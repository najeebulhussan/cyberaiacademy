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36f6c883cb4d46" /><Relationship Type="http://schemas.openxmlformats.org/officeDocument/2006/relationships/extended-properties" Target="/docProps/app.xml" Id="R48a00387b8eb4b16" /><Relationship Type="http://schemas.openxmlformats.org/officeDocument/2006/relationships/officeDocument" Target="/ppt/presentation.xml" Id="Rad876b2e74e14e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9f3e73c2f942ac"/>
  </p:sldMasterIdLst>
  <p:notesMasterIdLst>
    <p:notesMasterId xmlns:r="http://schemas.openxmlformats.org/officeDocument/2006/relationships" r:id="R4ecb121ea6954908"/>
  </p:notesMasterIdLst>
  <p:sldIdLst>
    <p:sldId xmlns:r="http://schemas.openxmlformats.org/officeDocument/2006/relationships" id="256" r:id="Rb926d0b6b93b452b"/>
    <p:sldId xmlns:r="http://schemas.openxmlformats.org/officeDocument/2006/relationships" id="257" r:id="R478c36a32ae54e63"/>
    <p:sldId xmlns:r="http://schemas.openxmlformats.org/officeDocument/2006/relationships" id="258" r:id="R30f0ce3f91c34069"/>
    <p:sldId xmlns:r="http://schemas.openxmlformats.org/officeDocument/2006/relationships" id="259" r:id="R996056bd974c4f41"/>
    <p:sldId xmlns:r="http://schemas.openxmlformats.org/officeDocument/2006/relationships" id="260" r:id="Rab4665afdc234ca8"/>
    <p:sldId xmlns:r="http://schemas.openxmlformats.org/officeDocument/2006/relationships" id="261" r:id="Rd0eb8e86d072432f"/>
    <p:sldId xmlns:r="http://schemas.openxmlformats.org/officeDocument/2006/relationships" id="262" r:id="Rfe177d29ae854bb0"/>
    <p:sldId xmlns:r="http://schemas.openxmlformats.org/officeDocument/2006/relationships" id="263" r:id="R8c99edba21424a13"/>
    <p:sldId xmlns:r="http://schemas.openxmlformats.org/officeDocument/2006/relationships" id="264" r:id="R1c0fcd31002440f3"/>
    <p:sldId xmlns:r="http://schemas.openxmlformats.org/officeDocument/2006/relationships" id="265" r:id="R19ec74180a544a94"/>
    <p:sldId xmlns:r="http://schemas.openxmlformats.org/officeDocument/2006/relationships" id="266" r:id="R8ef849685d18494c"/>
    <p:sldId xmlns:r="http://schemas.openxmlformats.org/officeDocument/2006/relationships" id="267" r:id="R2db2ec434f974fbb"/>
    <p:sldId xmlns:r="http://schemas.openxmlformats.org/officeDocument/2006/relationships" id="268" r:id="R52faf1e743ab4c2e"/>
    <p:sldId xmlns:r="http://schemas.openxmlformats.org/officeDocument/2006/relationships" id="269" r:id="R8be6c400b40f4cfb"/>
    <p:sldId xmlns:r="http://schemas.openxmlformats.org/officeDocument/2006/relationships" id="270" r:id="Ra54b075253e94b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9e713a16cb428a" /><Relationship Type="http://schemas.openxmlformats.org/officeDocument/2006/relationships/slideMaster" Target="/ppt/slideMasters/slideMaster1.xml" Id="Rd49f3e73c2f942ac" /><Relationship Type="http://schemas.openxmlformats.org/officeDocument/2006/relationships/notesMaster" Target="/ppt/notesMasters/notesMaster1.xml" Id="R4ecb121ea6954908" /><Relationship Type="http://schemas.openxmlformats.org/officeDocument/2006/relationships/presProps" Target="/ppt/presProps.xml" Id="R61d747a7a57e4611" /><Relationship Type="http://schemas.openxmlformats.org/officeDocument/2006/relationships/tableStyles" Target="/ppt/tableStyles.xml" Id="Re7107498c030430e" /><Relationship Type="http://schemas.openxmlformats.org/officeDocument/2006/relationships/slide" Target="/ppt/slides/slide1.xml" Id="Rb926d0b6b93b452b" /><Relationship Type="http://schemas.openxmlformats.org/officeDocument/2006/relationships/slide" Target="/ppt/slides/slide2.xml" Id="R478c36a32ae54e63" /><Relationship Type="http://schemas.openxmlformats.org/officeDocument/2006/relationships/slide" Target="/ppt/slides/slide3.xml" Id="R30f0ce3f91c34069" /><Relationship Type="http://schemas.openxmlformats.org/officeDocument/2006/relationships/slide" Target="/ppt/slides/slide4.xml" Id="R996056bd974c4f41" /><Relationship Type="http://schemas.openxmlformats.org/officeDocument/2006/relationships/slide" Target="/ppt/slides/slide5.xml" Id="Rab4665afdc234ca8" /><Relationship Type="http://schemas.openxmlformats.org/officeDocument/2006/relationships/slide" Target="/ppt/slides/slide6.xml" Id="Rd0eb8e86d072432f" /><Relationship Type="http://schemas.openxmlformats.org/officeDocument/2006/relationships/slide" Target="/ppt/slides/slide7.xml" Id="Rfe177d29ae854bb0" /><Relationship Type="http://schemas.openxmlformats.org/officeDocument/2006/relationships/slide" Target="/ppt/slides/slide8.xml" Id="R8c99edba21424a13" /><Relationship Type="http://schemas.openxmlformats.org/officeDocument/2006/relationships/slide" Target="/ppt/slides/slide9.xml" Id="R1c0fcd31002440f3" /><Relationship Type="http://schemas.openxmlformats.org/officeDocument/2006/relationships/slide" Target="/ppt/slides/slide10.xml" Id="R19ec74180a544a94" /><Relationship Type="http://schemas.openxmlformats.org/officeDocument/2006/relationships/slide" Target="/ppt/slides/slide11.xml" Id="R8ef849685d18494c" /><Relationship Type="http://schemas.openxmlformats.org/officeDocument/2006/relationships/slide" Target="/ppt/slides/slide12.xml" Id="R2db2ec434f974fbb" /><Relationship Type="http://schemas.openxmlformats.org/officeDocument/2006/relationships/slide" Target="/ppt/slides/slide13.xml" Id="R52faf1e743ab4c2e" /><Relationship Type="http://schemas.openxmlformats.org/officeDocument/2006/relationships/slide" Target="/ppt/slides/slide14.xml" Id="R8be6c400b40f4cfb" /><Relationship Type="http://schemas.openxmlformats.org/officeDocument/2006/relationships/slide" Target="/ppt/slides/slide15.xml" Id="Ra54b075253e94b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417be42f024a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fbeacb1f6f418d" /><Relationship Type="http://schemas.openxmlformats.org/officeDocument/2006/relationships/notesMaster" Target="/ppt/notesMasters/notesMaster1.xml" Id="R83a814f4de0449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6614c8d9db4682" /><Relationship Type="http://schemas.openxmlformats.org/officeDocument/2006/relationships/notesMaster" Target="/ppt/notesMasters/notesMaster1.xml" Id="Rb9b95c2291df42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8163a164f64ad5" /><Relationship Type="http://schemas.openxmlformats.org/officeDocument/2006/relationships/notesMaster" Target="/ppt/notesMasters/notesMaster1.xml" Id="R705a829456054d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2a695a6f6c458b" /><Relationship Type="http://schemas.openxmlformats.org/officeDocument/2006/relationships/notesMaster" Target="/ppt/notesMasters/notesMaster1.xml" Id="R42feb8be79484a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78ad181d334636" /><Relationship Type="http://schemas.openxmlformats.org/officeDocument/2006/relationships/notesMaster" Target="/ppt/notesMasters/notesMaster1.xml" Id="Rfc267e0bc14746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a1f49f60664a83" /><Relationship Type="http://schemas.openxmlformats.org/officeDocument/2006/relationships/notesMaster" Target="/ppt/notesMasters/notesMaster1.xml" Id="R586fd892b78841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ffe9b0cb064319" /><Relationship Type="http://schemas.openxmlformats.org/officeDocument/2006/relationships/notesMaster" Target="/ppt/notesMasters/notesMaster1.xml" Id="R196d4d3651ea4b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1987e0d4da464c" /><Relationship Type="http://schemas.openxmlformats.org/officeDocument/2006/relationships/notesMaster" Target="/ppt/notesMasters/notesMaster1.xml" Id="Ra7ecce6667b249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fcba79175d49fa" /><Relationship Type="http://schemas.openxmlformats.org/officeDocument/2006/relationships/notesMaster" Target="/ppt/notesMasters/notesMaster1.xml" Id="Rc0af51cc0cc548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c7ba968a4b40c4" /><Relationship Type="http://schemas.openxmlformats.org/officeDocument/2006/relationships/notesMaster" Target="/ppt/notesMasters/notesMaster1.xml" Id="R2e53754c486941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b70d2c43454244" /><Relationship Type="http://schemas.openxmlformats.org/officeDocument/2006/relationships/notesMaster" Target="/ppt/notesMasters/notesMaster1.xml" Id="Ree188de04db244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19120ace0a40a0" /><Relationship Type="http://schemas.openxmlformats.org/officeDocument/2006/relationships/notesMaster" Target="/ppt/notesMasters/notesMaster1.xml" Id="R108f1101c32945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914f1b44e94a07" /><Relationship Type="http://schemas.openxmlformats.org/officeDocument/2006/relationships/notesMaster" Target="/ppt/notesMasters/notesMaster1.xml" Id="R57d6153c947845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29ef7c3f39498a" /><Relationship Type="http://schemas.openxmlformats.org/officeDocument/2006/relationships/notesMaster" Target="/ppt/notesMasters/notesMaster1.xml" Id="Rf9f0de784ef449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798e2e4eb446c0" /><Relationship Type="http://schemas.openxmlformats.org/officeDocument/2006/relationships/notesMaster" Target="/ppt/notesMasters/notesMaster1.xml" Id="R4f4a6d9fc5b44e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Ask, ‘If someone got access to your phone today, how much of your life could they control?’ Do not begin with definitions. Establish that this is a practical workshop.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created for this 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6 minutes. Ask participants which area would hurt most if their phone were compromised. Use two or three answers to personalize the stakes.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created for this 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 Explain the learning journey. AI-powered threats will appear throughout the five doors rather than as a separate catalogue.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 minutes. Participants count how many statements are true. Repeat the exercise verbally at the end to show practical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 including demonstration. Show lock-screen notification privacy and app permissions on Android/iPhone. Do not expose personal notifications during the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created for this 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 Show a believable WhatsApp or email request. Ask what emotion it targets. Emphasize that a polished message is not proof of legitimacy.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created for this 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 Do not read every cell. Ask the audience to open their most-used platform and locate active sessions. Clarify that feature availability and menu labels can vary by device and rollout.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https://faq.whatsapp.com/143990998547188</a:t>
            </a:r>
          </a:p>
          <a:p xmlns:a="http://schemas.openxmlformats.org/drawingml/2006/main">
            <a:r>
              <a:t>- https://faq.whatsapp.com/490592613091019</a:t>
            </a:r>
          </a:p>
          <a:p xmlns:a="http://schemas.openxmlformats.org/drawingml/2006/main">
            <a:r>
              <a:t>- https://www.facebook.com/help/799880743466869</a:t>
            </a:r>
          </a:p>
          <a:p xmlns:a="http://schemas.openxmlformats.org/drawingml/2006/main">
            <a:r>
              <a:t>- https://help.instagram.com/566810106808145</a:t>
            </a:r>
          </a:p>
          <a:p xmlns:a="http://schemas.openxmlformats.org/drawingml/2006/main">
            <a:r>
              <a:t>- https://help.x.com/en/managing-your-account/how-to-use-passkey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 Demonstrate WhatsApp: Settings &gt; Privacy &gt; Advanced &gt; Protect IP address in calls. Explain the possible call-quality tradeoff. Show X Enhanced Call Privacy if available. Also mention WhatsApp Disable Link Previews and Advanced Chat Privacy.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https://faq.whatsapp.com/2635108359972899</a:t>
            </a:r>
          </a:p>
          <a:p xmlns:a="http://schemas.openxmlformats.org/drawingml/2006/main">
            <a:r>
              <a:t>- https://faq.whatsapp.com/3307102709559968</a:t>
            </a:r>
          </a:p>
          <a:p xmlns:a="http://schemas.openxmlformats.org/drawingml/2006/main">
            <a:r>
              <a:t>- https://faq.whatsapp.com/715385484388016</a:t>
            </a:r>
          </a:p>
          <a:p xmlns:a="http://schemas.openxmlformats.org/drawingml/2006/main">
            <a:r>
              <a:t>- https://help.x.com/en/using-x/direct-messages/audio-video-calls</a:t>
            </a:r>
          </a:p>
          <a:p xmlns:a="http://schemas.openxmlformats.org/drawingml/2006/main">
            <a:r>
              <a:t>- https://help.instagram.com/196883487377501</a:t>
            </a:r>
          </a:p>
          <a:p xmlns:a="http://schemas.openxmlformats.org/drawingml/2006/main">
            <a:r>
              <a:t>- https://help.x.com/en/safety-and-security/control-your-x-experience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 Demonstrate a password manager using a training account, not a personal account. Explain why password reuse allows one breach to spread across many services.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created for this 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9 minutes. Focus on automatic updates, legitimate software, backups, and unknown USB/file risks. Avoid technical malware taxonomy.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created for this 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 Explain cloned-voice and impersonation risk. Recommend a family safe word, call-back on a saved number, and a second trusted person for financial emergencies.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created for this 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 Use a fictional document to demonstrate anonymization. Remind participants that organizational policy overrides personal convenience.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created for this 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 Show one confident but questionable AI response. Ask what source would be needed before acting.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created for this 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 Preserve screenshots, original messages, profile links, numbers, timestamps and transaction IDs before blocking or deleting. For financial fraud, contact the bank/payment provider immediately. Do not promise recovery. Do not encourage hacking 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 created for this presentation</a:t>
            </a:r>
          </a:p>
          <a:p xmlns:a="http://schemas.openxmlformats.org/drawingml/2006/main">
            <a:r>
              <a:t>- https://complaint.nccia.gov.pk/</a:t>
            </a:r>
          </a:p>
          <a:p xmlns:a="http://schemas.openxmlformats.org/drawingml/2006/main">
            <a:r>
              <a:t>- https://www.nccia.gov.pk/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 plus Q&amp;A. Give participants five minutes to change one setting. Invite them to state one action they will take today. Return to the opening self-assessment and ask whether their score can improve now.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82ad238934a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50e042a63c434d" /><Relationship Type="http://schemas.openxmlformats.org/officeDocument/2006/relationships/slideLayout" Target="/ppt/slideLayouts/slideLayout1.xml" Id="Ra4f8e4aa1fd444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f8e4aa1fd444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f1ecca9034612" /><Relationship Type="http://schemas.openxmlformats.org/officeDocument/2006/relationships/image" Target="/ppt/media/image.png" Id="Rff31198cc8ff4e25" /><Relationship Type="http://schemas.openxmlformats.org/officeDocument/2006/relationships/notesSlide" Target="/ppt/notesSlides/notesSlide1.xml" Id="R5ee31806f21e49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371050b35439b" /><Relationship Type="http://schemas.openxmlformats.org/officeDocument/2006/relationships/image" Target="/ppt/media/image2.png" Id="R69dd810b30d5413d" /><Relationship Type="http://schemas.openxmlformats.org/officeDocument/2006/relationships/notesSlide" Target="/ppt/notesSlides/notesSlide2.xml" Id="R8dcd48cfb76142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d73ebef6143b3" /><Relationship Type="http://schemas.openxmlformats.org/officeDocument/2006/relationships/notesSlide" Target="/ppt/notesSlides/notesSlide3.xml" Id="R0c7ea46c8b654b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f4907edf84926" /><Relationship Type="http://schemas.openxmlformats.org/officeDocument/2006/relationships/notesSlide" Target="/ppt/notesSlides/notesSlide4.xml" Id="R8cc5b94911d945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62f9eb0a94816" /><Relationship Type="http://schemas.openxmlformats.org/officeDocument/2006/relationships/image" Target="/ppt/media/image3.png" Id="R061299701342473e" /><Relationship Type="http://schemas.openxmlformats.org/officeDocument/2006/relationships/notesSlide" Target="/ppt/notesSlides/notesSlide5.xml" Id="R508ba7cfa0e147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880be52734bfd" /><Relationship Type="http://schemas.openxmlformats.org/officeDocument/2006/relationships/image" Target="/ppt/media/image4.png" Id="Ra87dbea21cf84700" /><Relationship Type="http://schemas.openxmlformats.org/officeDocument/2006/relationships/notesSlide" Target="/ppt/notesSlides/notesSlide6.xml" Id="R4db6c161178149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2ee1fb198498a" /><Relationship Type="http://schemas.openxmlformats.org/officeDocument/2006/relationships/image" Target="/ppt/media/image5.png" Id="R9bca6d34752c44ea" /><Relationship Type="http://schemas.openxmlformats.org/officeDocument/2006/relationships/image" Target="/ppt/media/image.svg" Id="R066ca3f7d25348d2" /><Relationship Type="http://schemas.openxmlformats.org/officeDocument/2006/relationships/image" Target="/ppt/media/image6.png" Id="Re8803c9533614c05" /><Relationship Type="http://schemas.openxmlformats.org/officeDocument/2006/relationships/image" Target="/ppt/media/image2.svg" Id="R9d93c6d69caa4b05" /><Relationship Type="http://schemas.openxmlformats.org/officeDocument/2006/relationships/image" Target="/ppt/media/image7.png" Id="R64de805496134f94" /><Relationship Type="http://schemas.openxmlformats.org/officeDocument/2006/relationships/image" Target="/ppt/media/image3.svg" Id="Rf826cf10b13b4487" /><Relationship Type="http://schemas.openxmlformats.org/officeDocument/2006/relationships/image" Target="/ppt/media/image8.png" Id="Rf444828a7fa3477d" /><Relationship Type="http://schemas.openxmlformats.org/officeDocument/2006/relationships/image" Target="/ppt/media/image4.svg" Id="Rb30c96a82a7e43b2" /><Relationship Type="http://schemas.openxmlformats.org/officeDocument/2006/relationships/notesSlide" Target="/ppt/notesSlides/notesSlide7.xml" Id="R94988fdf400b4c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88c1528d945e0" /><Relationship Type="http://schemas.openxmlformats.org/officeDocument/2006/relationships/image" Target="/ppt/media/image9.png" Id="R7c6cbc588fc841a2" /><Relationship Type="http://schemas.openxmlformats.org/officeDocument/2006/relationships/image" Target="/ppt/media/image5.svg" Id="Rffa543be23d741d2" /><Relationship Type="http://schemas.openxmlformats.org/officeDocument/2006/relationships/image" Target="/ppt/media/image10.png" Id="Ra46057ae974b48c3" /><Relationship Type="http://schemas.openxmlformats.org/officeDocument/2006/relationships/image" Target="/ppt/media/image6.svg" Id="Rcb118db04fb0483e" /><Relationship Type="http://schemas.openxmlformats.org/officeDocument/2006/relationships/image" Target="/ppt/media/image11.png" Id="R40d920b520b54963" /><Relationship Type="http://schemas.openxmlformats.org/officeDocument/2006/relationships/image" Target="/ppt/media/image7.svg" Id="R4916ce82c459479a" /><Relationship Type="http://schemas.openxmlformats.org/officeDocument/2006/relationships/image" Target="/ppt/media/image12.png" Id="R43f80de1c3554769" /><Relationship Type="http://schemas.openxmlformats.org/officeDocument/2006/relationships/image" Target="/ppt/media/image8.svg" Id="R360103cf465940e9" /><Relationship Type="http://schemas.openxmlformats.org/officeDocument/2006/relationships/notesSlide" Target="/ppt/notesSlides/notesSlide8.xml" Id="R6f78b96b2ef040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8b66124db4c52" /><Relationship Type="http://schemas.openxmlformats.org/officeDocument/2006/relationships/image" Target="/ppt/media/image13.png" Id="Rec2ffb7fe2e1407c" /><Relationship Type="http://schemas.openxmlformats.org/officeDocument/2006/relationships/notesSlide" Target="/ppt/notesSlides/notesSlide9.xml" Id="Ra54365df0f6d40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8e72ededf4f89" /><Relationship Type="http://schemas.openxmlformats.org/officeDocument/2006/relationships/image" Target="/ppt/media/image14.png" Id="Rbe59f04f6f0b4f1b" /><Relationship Type="http://schemas.openxmlformats.org/officeDocument/2006/relationships/notesSlide" Target="/ppt/notesSlides/notesSlide10.xml" Id="R1262ae3deac44e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d9f6a5bd3494a" /><Relationship Type="http://schemas.openxmlformats.org/officeDocument/2006/relationships/image" Target="/ppt/media/image15.png" Id="R37c4a2508df14345" /><Relationship Type="http://schemas.openxmlformats.org/officeDocument/2006/relationships/notesSlide" Target="/ppt/notesSlides/notesSlide11.xml" Id="R40e97cd463f647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ac88c1cef4c0a" /><Relationship Type="http://schemas.openxmlformats.org/officeDocument/2006/relationships/image" Target="/ppt/media/image16.png" Id="R6bd6deeddd9d4b28" /><Relationship Type="http://schemas.openxmlformats.org/officeDocument/2006/relationships/notesSlide" Target="/ppt/notesSlides/notesSlide12.xml" Id="R679d7143484849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96bf416904757" /><Relationship Type="http://schemas.openxmlformats.org/officeDocument/2006/relationships/image" Target="/ppt/media/image17.png" Id="Rd801d79e248043af" /><Relationship Type="http://schemas.openxmlformats.org/officeDocument/2006/relationships/notesSlide" Target="/ppt/notesSlides/notesSlide13.xml" Id="Rc7324a8770fa49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470aef19b4b1d" /><Relationship Type="http://schemas.openxmlformats.org/officeDocument/2006/relationships/image" Target="/ppt/media/image18.png" Id="R90b17f53938048b3" /><Relationship Type="http://schemas.openxmlformats.org/officeDocument/2006/relationships/notesSlide" Target="/ppt/notesSlides/notesSlide14.xml" Id="Rcd4bdfb7d44541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c616a6cd847cd" /><Relationship Type="http://schemas.openxmlformats.org/officeDocument/2006/relationships/notesSlide" Target="/ppt/notesSlides/notesSlide15.xml" Id="R97ed2dc9bd4d41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1198cc8ff4e2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654E5-6D09-48FB-9331-B4BE57FB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96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A60EF-CC83-4AFE-9BC3-B980157C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5000B-D64F-44D1-B88B-84D89B86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CYBER SMART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5E305-B983-45E4-90B3-C230F125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Protecting Yourself in an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AI-Powered Digital World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4E42A-628D-4D77-81EC-81AA509A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401E8-AD4F-4872-BBEF-0E0814EE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F5FF"/>
                </a:solidFill>
              </a:defRPr>
            </a:pPr>
            <a:r>
              <a:rPr sz="1800" b="0">
                <a:solidFill>
                  <a:srgbClr val="DDF5FF"/>
                </a:solidFill>
              </a:rPr>
              <a:t>Practical changes for your phone, accounts, systems, social media and AI 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3C9F2-47FD-4FDA-987D-FC653079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NAJEEB UL HASSAN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BA98F-5B5D-444F-A0F3-CF95ED03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5FF"/>
                </a:solidFill>
              </a:defRPr>
            </a:pPr>
            <a:r>
              <a:rPr sz="1200" b="0">
                <a:solidFill>
                  <a:srgbClr val="DDF5FF"/>
                </a:solidFill>
              </a:rPr>
              <a:t>Focal Person &amp; Public Relations Officer • NCCIA</a:t>
            </a:r>
          </a:p>
          <a:p xmlns:a="http://schemas.openxmlformats.org/drawingml/2006/main">
            <a:pPr algn="l">
              <a:defRPr sz="1200" b="0">
                <a:solidFill>
                  <a:srgbClr val="DDF5FF"/>
                </a:solidFill>
              </a:defRPr>
            </a:pPr>
            <a:r>
              <a:rPr sz="1200" b="0">
                <a:solidFill>
                  <a:srgbClr val="DDF5FF"/>
                </a:solidFill>
              </a:rPr>
              <a:t>ITQ Certified Trainer • CyberOps • OSINT •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1997405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d810b30d5413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CCE73-8300-4830-B3DD-17F9CFA7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994CC-0437-4013-977C-FC894E2D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79464-F40D-40CD-AA8B-EFE29600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E6"/>
                </a:solidFill>
              </a:defRPr>
            </a:pPr>
            <a:r>
              <a:rPr sz="1125" b="1">
                <a:solidFill>
                  <a:srgbClr val="16B8E6"/>
                </a:solidFill>
              </a:rPr>
              <a:t>02  •  EVERYDAY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5AA0E-258D-44EE-95CB-E9CD00A2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Your phone is not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just a phone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74489-0250-480D-9A5C-554B1BB3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333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DF5FF"/>
                </a:solidFill>
              </a:defRPr>
            </a:pPr>
            <a:r>
              <a:rPr sz="1575" b="0">
                <a:solidFill>
                  <a:srgbClr val="DDF5FF"/>
                </a:solidFill>
              </a:rPr>
              <a:t>It is the gateway to almost every part of your digital life.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CAA61-4DCE-4C42-9906-AC9D328A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1F107-F78A-429A-B2C5-09680E12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MONEY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FCF27-EB91-40BB-8C72-27FFD44D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E383F-EA56-4194-99CE-25C89475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0B9AC-C7F1-4E30-AA5B-0CC8543E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366DF-BF43-4FD6-A50B-ACEB12AB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RELATIONSHIPS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2B7AD-B288-45C4-9947-FCECC21F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662A2-4699-4C34-81E6-4DBF770E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15BE0-FD43-4AF4-BD00-79A7328C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A1F833-EC41-485D-AE18-D7956FD7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DF5FF"/>
                </a:solidFill>
              </a:defRPr>
            </a:pPr>
            <a:r>
              <a:rPr sz="1275" b="1">
                <a:solidFill>
                  <a:srgbClr val="DDF5FF"/>
                </a:solidFill>
              </a:rPr>
              <a:t>One device. Four high-value targets.</a:t>
            </a:r>
          </a:p>
        </p:txBody>
      </p:sp>
    </p:spTree>
    <p:extLst>
      <p:ext uri="{BB962C8B-B14F-4D97-AF65-F5344CB8AC3E}">
        <p14:creationId xmlns:p14="http://schemas.microsoft.com/office/powerpoint/2010/main" val="11275616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06FE2A-ECF3-4917-8351-706FE65E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132B6-46F2-4D24-8FD1-FEBB0078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E6"/>
                </a:solidFill>
              </a:defRPr>
            </a:pPr>
            <a:r>
              <a:rPr sz="1125" b="1">
                <a:solidFill>
                  <a:srgbClr val="16B8E6"/>
                </a:solidFill>
              </a:rPr>
              <a:t>03  •  THE CYBER-SMART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2FD27-2898-4B4A-A56E-67A99ACE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Five doors protect your digital life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E75D6-9B9F-4E1D-B313-A18EA454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75F87"/>
                </a:solidFill>
              </a:defRPr>
            </a:pPr>
            <a:r>
              <a:rPr sz="2850" b="1">
                <a:solidFill>
                  <a:srgbClr val="375F8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0E4B4-1C27-4FBF-AF06-A1FA0DB1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C209F-1689-4052-A1F1-AAC1AC18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07ED7-6D15-4609-B082-11C38E77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F5FF"/>
                </a:solidFill>
              </a:defRPr>
            </a:pPr>
            <a:r>
              <a:rPr sz="1275" b="0">
                <a:solidFill>
                  <a:srgbClr val="DDF5FF"/>
                </a:solidFill>
              </a:rPr>
              <a:t>Secure the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E4D5A-86D4-4182-925E-48E77707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478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75F87"/>
                </a:solidFill>
              </a:defRPr>
            </a:pPr>
            <a:r>
              <a:rPr sz="2850" b="1">
                <a:solidFill>
                  <a:srgbClr val="375F87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FF423-7DBE-4763-BD10-FE00A40B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908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B6233-EC88-44C6-B7E7-8AFDE97B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194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ACCOUNTS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384AB-6A90-4F00-A2AD-0F59A448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956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F5FF"/>
                </a:solidFill>
              </a:defRPr>
            </a:pPr>
            <a:r>
              <a:rPr sz="1275" b="0">
                <a:solidFill>
                  <a:srgbClr val="DDF5FF"/>
                </a:solidFill>
              </a:rPr>
              <a:t>Protect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84746-DD9A-4C00-8DC2-DF62769C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478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75F87"/>
                </a:solidFill>
              </a:defRPr>
            </a:pPr>
            <a:r>
              <a:rPr sz="2850" b="1">
                <a:solidFill>
                  <a:srgbClr val="375F87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0E1D6-0130-4DF7-BB43-97ECC8EC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908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094CA-5B58-4856-9424-52D086A6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194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SYSTEMS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1F46D-B329-415C-BAAF-2EFA9777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956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F5FF"/>
                </a:solidFill>
              </a:defRPr>
            </a:pPr>
            <a:r>
              <a:rPr sz="1275" b="0">
                <a:solidFill>
                  <a:srgbClr val="DDF5FF"/>
                </a:solidFill>
              </a:rPr>
              <a:t>Reduce exposure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E8494-4ED7-486C-947D-5068F3AD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478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75F87"/>
                </a:solidFill>
              </a:defRPr>
            </a:pPr>
            <a:r>
              <a:rPr sz="2850" b="1">
                <a:solidFill>
                  <a:srgbClr val="375F87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9CB7A-64F0-46DE-ACD6-6E5B743D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908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CE7FE-36BB-4F9F-9F8E-8471EAC7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194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SOCIAL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0B2D5-0948-423F-B478-70E8BB31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F5FF"/>
                </a:solidFill>
              </a:defRPr>
            </a:pPr>
            <a:r>
              <a:rPr sz="1275" b="0">
                <a:solidFill>
                  <a:srgbClr val="DDF5FF"/>
                </a:solidFill>
              </a:rPr>
              <a:t>Control identity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6C30D4-68B7-44E8-B8B0-CA26361A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478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B8E6"/>
                </a:solidFill>
              </a:defRPr>
            </a:pPr>
            <a:r>
              <a:rPr sz="2850" b="1">
                <a:solidFill>
                  <a:srgbClr val="16B8E6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D55492-705F-4BF8-9AEF-59C62C5B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908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610609-F0AA-461E-85E3-506F06A3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194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0209A-5A9D-495D-90EE-31D9186F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956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F5FF"/>
                </a:solidFill>
              </a:defRPr>
            </a:pPr>
            <a:r>
              <a:rPr sz="1275" b="0">
                <a:solidFill>
                  <a:srgbClr val="DDF5FF"/>
                </a:solidFill>
              </a:rPr>
              <a:t>Share carefully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F3067-ED96-4BAF-829A-77E5C63D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8DB52B-B918-4149-ACAA-3EA971F3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Security is not one setting. It is a system of habits.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95738E-483E-4BA7-82AD-A855CAD8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B8E6"/>
                </a:solidFill>
              </a:defRPr>
            </a:pPr>
            <a:r>
              <a:rPr sz="1425" b="1">
                <a:solidFill>
                  <a:srgbClr val="16B8E6"/>
                </a:solidFill>
              </a:rPr>
              <a:t>Make every door harder to open.</a:t>
            </a:r>
          </a:p>
        </p:txBody>
      </p:sp>
    </p:spTree>
    <p:extLst>
      <p:ext uri="{BB962C8B-B14F-4D97-AF65-F5344CB8AC3E}">
        <p14:creationId xmlns:p14="http://schemas.microsoft.com/office/powerpoint/2010/main" val="20912715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33143E-4AA0-411F-9E44-DD3AF701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794B4-3141-47D5-AFB1-90F8092A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4F91"/>
                </a:solidFill>
              </a:defRPr>
            </a:pPr>
            <a:r>
              <a:rPr sz="1125" b="1">
                <a:solidFill>
                  <a:srgbClr val="0B4F91"/>
                </a:solidFill>
              </a:rPr>
              <a:t>04  •  PRIVATE SELF-CHECK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E6A29-57FF-41D8-BA96-5D561273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How cyber smart are you today?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9C3AD-416B-4BB5-84A2-A521BC24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E45454"/>
                </a:solidFill>
              </a:defRPr>
            </a:pPr>
            <a:r>
              <a:rPr sz="1125" b="1">
                <a:solidFill>
                  <a:srgbClr val="E45454"/>
                </a:solidFill>
              </a:rPr>
              <a:t>YES = 1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EFC77-4A97-4B81-BA54-4522337D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5454"/>
                </a:solidFill>
              </a:defRPr>
            </a:pPr>
            <a:r>
              <a:rPr sz="1500" b="1">
                <a:solidFill>
                  <a:srgbClr val="E45454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9953B-44EC-46D1-B6F6-0D5713F7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3355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I reuse at least one important password.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385AD-7419-4E37-9269-95CDA855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431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10D2A-8166-4F1E-8D59-28200583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5454"/>
                </a:solidFill>
              </a:defRPr>
            </a:pPr>
            <a:r>
              <a:rPr sz="1500" b="1">
                <a:solidFill>
                  <a:srgbClr val="E45454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F71E9-E1AF-4538-ABA6-A459167D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3355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My lock screen shows message previews.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027C2-65B4-4828-ABAD-39C20567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431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D373F-7825-4DE9-A3A9-F93944EC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A93B"/>
                </a:solidFill>
              </a:defRPr>
            </a:pPr>
            <a:r>
              <a:rPr sz="1500" b="1">
                <a:solidFill>
                  <a:srgbClr val="F2A93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88CB3-4B51-4294-A8BC-E6EC108C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I have not reviewed active login sessions.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9B337-DAD5-4B87-A9A0-453E42A0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F2FB5-DF38-4AC6-8F3C-37E11ED2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A93B"/>
                </a:solidFill>
              </a:defRPr>
            </a:pPr>
            <a:r>
              <a:rPr sz="1500" b="1">
                <a:solidFill>
                  <a:srgbClr val="F2A93B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87FA7-88F6-451A-A248-8A2C0229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My social profile reveals personal details.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C327C-D943-4FE4-8354-0699D6AD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671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74B59-B6B4-4104-91E7-F1D0215E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F91"/>
                </a:solidFill>
              </a:defRPr>
            </a:pPr>
            <a:r>
              <a:rPr sz="1500" b="1">
                <a:solidFill>
                  <a:srgbClr val="0B4F91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ED055-8D6C-4462-9432-89E17722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8145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I upload documents to AI without removing identifiers.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3353E-0632-4ECC-A1D4-A3CED8DE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A5D00-B431-465C-BA0D-E3581FFD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F91"/>
                </a:solidFill>
              </a:defRPr>
            </a:pPr>
            <a:r>
              <a:rPr sz="1500" b="1">
                <a:solidFill>
                  <a:srgbClr val="0B4F91"/>
                </a:solidFill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65E34-3EA2-45D3-B6B3-D94149CD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8145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My family has no safe word for emergency calls.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76799-0417-41C8-ACAA-53BAEDDE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910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5C7371-DA24-41DC-8C63-718E73D1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D2FA28-030D-4555-B62B-30936A24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4025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Count privately. The goal is improvement—not embarrassment.</a:t>
            </a:r>
          </a:p>
        </p:txBody>
      </p:sp>
    </p:spTree>
    <p:extLst>
      <p:ext uri="{BB962C8B-B14F-4D97-AF65-F5344CB8AC3E}">
        <p14:creationId xmlns:p14="http://schemas.microsoft.com/office/powerpoint/2010/main" val="3152497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589CC4-E7BD-4756-A82E-FED07DBC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B33A6-C69C-45F8-A7BA-8CA62375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4F91"/>
                </a:solidFill>
              </a:defRPr>
            </a:pPr>
            <a:r>
              <a:rPr sz="1050" b="1">
                <a:solidFill>
                  <a:srgbClr val="0B4F91"/>
                </a:solidFill>
              </a:rPr>
              <a:t>CYBER SMART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C800C-6F9C-4D3A-B680-3214748C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B3A"/>
                </a:solidFill>
              </a:defRPr>
            </a:pPr>
            <a:r>
              <a:rPr sz="2550" b="1">
                <a:solidFill>
                  <a:srgbClr val="061B3A"/>
                </a:solidFill>
              </a:rPr>
              <a:t>Make the phone safe before adding another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A2A1B-2D01-434E-B5B0-57507D48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048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4F91"/>
                </a:solidFill>
              </a:defRPr>
            </a:pPr>
            <a:r>
              <a:rPr sz="1200" b="1">
                <a:solidFill>
                  <a:srgbClr val="0B4F91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8755D-EB69-43B4-AFA3-B5A2A101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299701342473e"/>
          <a:srcRect xmlns:a="http://schemas.openxmlformats.org/drawingml/2006/main" l="19585" t="0" r="195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66850"/>
            <a:ext cx="4838700" cy="4476750"/>
          </a:xfrm>
          <a:prstGeom xmlns:a="http://schemas.openxmlformats.org/drawingml/2006/main" prst="roundRect">
            <a:avLst>
              <a:gd name="adj" fmla="val 468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17F3E-03F3-46EA-A4D0-A5069476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27D0F-B9CE-472B-BE69-F42D815E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1212E-3E48-405E-B60E-891E1748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Strong screen lock + biometrics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8BEBB-F7BF-4976-860F-34EFDF20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050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C3194-4F25-4715-B8E0-02291CB4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9BA42-819E-4CCB-9982-CB2DB052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69D7A-FC89-4AE8-9542-C38D8D9F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Hide lock-screen previews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32B2F-0E9A-45E7-9097-AC0F2731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527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3238C-6E31-4580-BB52-44BBA5F3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40ADE-9CE2-4B3E-8B1A-EB806B88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E76E8-0550-46E5-89B2-69AF1995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Automatic OS and app updates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E0B8C-0343-4F54-B46D-DB78AF29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04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C5841-1F20-41C1-BB6D-7110AC0A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80718-A1B9-430A-8DD3-96C819FC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62C8C-FC82-482B-8CA3-444168A8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Review camera, mic and location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A87E0E-9597-4782-9DF3-0162BA16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481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CD381-3840-46CF-8974-80175695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C3612C-B9F4-42AB-9DDA-E6C882DC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407CA1-1662-4F5E-853F-EF764723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Find device + encrypted backup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73075-71D7-4CE7-94AB-94555B8E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958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F9C1F2-D939-4575-ADB1-65B02B6F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FB9867-E38F-4E0C-9860-CC268E19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AC2836-B473-4A28-9536-E6E1B35D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Official app stores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6F280C-EDED-4838-AC79-D115AA4C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435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CCE144-96C4-4996-8472-8BDA61C0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3340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6D2365-FB0C-455F-8086-5869CF19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Stolen media can power convincing impersonation.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DFCA3D-7F73-44BD-A811-09C39E8E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57C"/>
                </a:solidFill>
              </a:defRPr>
            </a:pPr>
            <a:r>
              <a:rPr sz="975" b="0">
                <a:solidFill>
                  <a:srgbClr val="50657C"/>
                </a:solidFill>
              </a:rPr>
              <a:t>Pause • Verify • Protect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C4D3B4-1912-4A7F-B06C-1AED57C0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0657C"/>
                </a:solidFill>
              </a:defRPr>
            </a:pPr>
            <a:r>
              <a:rPr sz="975" b="1">
                <a:solidFill>
                  <a:srgbClr val="50657C"/>
                </a:solidFill>
              </a:rPr>
              <a:t>Najeeb ul Hassan</a:t>
            </a:r>
          </a:p>
        </p:txBody>
      </p:sp>
    </p:spTree>
    <p:extLst>
      <p:ext uri="{BB962C8B-B14F-4D97-AF65-F5344CB8AC3E}">
        <p14:creationId xmlns:p14="http://schemas.microsoft.com/office/powerpoint/2010/main" val="310967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dbea21cf8470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CABEE-9AC6-4724-95A1-7226996D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782B5-625F-4217-9008-99D09DDB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E6417-CB02-4F5C-8DC0-40AE6777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E6"/>
                </a:solidFill>
              </a:defRPr>
            </a:pPr>
            <a:r>
              <a:rPr sz="1125" b="1">
                <a:solidFill>
                  <a:srgbClr val="16B8E6"/>
                </a:solidFill>
              </a:rPr>
              <a:t>06  •  MESSAGES &amp; SOCIAL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414A0-58CC-471E-9836-AB831B58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504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Urgency is a signal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to slow down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5146B-CE36-4A1A-BAD1-5EF5DEF8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54488-DA12-4F2B-BE0C-397549D0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0CD2A-FF3A-4F0C-BB84-6ED3D77C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316BA-63CB-4FDD-A51D-605B195F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384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5FF"/>
                </a:solidFill>
              </a:defRPr>
            </a:pPr>
            <a:r>
              <a:rPr sz="1200" b="0">
                <a:solidFill>
                  <a:srgbClr val="DDF5FF"/>
                </a:solidFill>
              </a:rPr>
              <a:t>Do not click, pay or reply emotionally.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20CAD-21CA-4A7E-A737-43268AF8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4285C-95D2-4F23-B92D-4355B5E9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46138-FD0E-47F4-99FF-3E121F04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2AFCF-7EB5-4108-80D2-F18307A5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051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5FF"/>
                </a:solidFill>
              </a:defRPr>
            </a:pPr>
            <a:r>
              <a:rPr sz="1200" b="0">
                <a:solidFill>
                  <a:srgbClr val="DDF5FF"/>
                </a:solidFill>
              </a:rPr>
              <a:t>Inspect the sender, request, link and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5CE42-F95A-41B5-86EF-3307021D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E49D2-0630-4D2E-ADA6-71014ED8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E8C6F-237D-43A9-AF6B-17D4B119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8036A-23D7-4EA8-B0C5-A24C857C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719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5FF"/>
                </a:solidFill>
              </a:defRPr>
            </a:pPr>
            <a:r>
              <a:rPr sz="1200" b="0">
                <a:solidFill>
                  <a:srgbClr val="DDF5FF"/>
                </a:solidFill>
              </a:rPr>
              <a:t>Call back using a saved number or official channel.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7ACBE-F663-48A3-BCDB-FD8B1BCF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2418E-3A00-493A-A4DC-219219CE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D7D09-59C8-4614-B19B-FAF24601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0A5CAD-441B-4965-B811-69F1F53B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386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5FF"/>
                </a:solidFill>
              </a:defRPr>
            </a:pPr>
            <a:r>
              <a:rPr sz="1200" b="0">
                <a:solidFill>
                  <a:srgbClr val="DDF5FF"/>
                </a:solidFill>
              </a:rPr>
              <a:t>Proceed only after independent confirmation.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7EB8DD-AF97-4128-B277-F5094803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B8E6"/>
                </a:solidFill>
              </a:defRPr>
            </a:pPr>
            <a:r>
              <a:rPr sz="1425" b="1">
                <a:solidFill>
                  <a:srgbClr val="16B8E6"/>
                </a:solidFill>
              </a:rPr>
              <a:t>AI makes scams polished. Verification still works.</a:t>
            </a:r>
          </a:p>
        </p:txBody>
      </p:sp>
    </p:spTree>
    <p:extLst>
      <p:ext uri="{BB962C8B-B14F-4D97-AF65-F5344CB8AC3E}">
        <p14:creationId xmlns:p14="http://schemas.microsoft.com/office/powerpoint/2010/main" val="568172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18FA5-3E76-4E42-8CDA-8C5CCF1F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89348-D21B-4C50-B53A-D1F4879D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B8E6"/>
                </a:solidFill>
              </a:defRPr>
            </a:pPr>
            <a:r>
              <a:rPr sz="1050" b="1">
                <a:solidFill>
                  <a:srgbClr val="16B8E6"/>
                </a:solidFill>
              </a:rPr>
              <a:t>07  •  PLATFORM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2D821-AF2D-41EC-8B5B-DB932A7F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Secure your social accounts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381125"/>
          <a:ext xmlns:a="http://schemas.openxmlformats.org/drawingml/2006/main" cx="108204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847850"/>
                <a:gridCol w="1847850"/>
                <a:gridCol w="1847850"/>
                <a:gridCol w="1847850"/>
              </a:tblGrid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91440" marR="91440" marT="45720" marB="45720">
                    <a:solidFill>
                      <a:srgbClr val="0B25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FA4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87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C135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Strongest sign-in option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Passkey / 2-step PIN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Passkey / 2FA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Passkey / 2FA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Passkey / 2FA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Review logged-in devices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Linked Devices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Where logged in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Login activity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Apps &amp; sessions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Unknown-login warning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Security alerts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Login alerts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Login requests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Security alerts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Recovery protection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Email + PIN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Email/phone + codes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Email/phone + codes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Email/phone + codes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Connected app review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Limited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Apps &amp; websites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Apps &amp; websites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Connected apps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App/device lock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Biometric app lock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Device lock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Device lock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Device lock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Encrypted stored backup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Optional E2EE backup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Account checkup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Privacy Checkup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Security Checkup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Accounts Center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Manual review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</a:tr>
            </a:tbl>
          </a:graphicData>
        </a:graphic>
      </p:graphicFrame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a6d34752c44ea">
            <a:extLst>
              <a:ext uri="{96DAC541-7B7A-43D3-8B79-37D633B846F1}">
                <asvg:svgBlip xmlns:asvg="http://schemas.microsoft.com/office/drawing/2016/SVG/main" r:embed="R066ca3f7d25348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86325" y="14763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03c9533614c05">
            <a:extLst>
              <a:ext uri="{96DAC541-7B7A-43D3-8B79-37D633B846F1}">
                <asvg:svgBlip xmlns:asvg="http://schemas.microsoft.com/office/drawing/2016/SVG/main" r:embed="R9d93c6d69caa4b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34175" y="14763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e805496134f94">
            <a:extLst>
              <a:ext uri="{96DAC541-7B7A-43D3-8B79-37D633B846F1}">
                <asvg:svgBlip xmlns:asvg="http://schemas.microsoft.com/office/drawing/2016/SVG/main" r:embed="Rf826cf10b13b44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82025" y="14763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4828a7fa3477d">
            <a:extLst>
              <a:ext uri="{96DAC541-7B7A-43D3-8B79-37D633B846F1}">
                <asvg:svgBlip xmlns:asvg="http://schemas.microsoft.com/office/drawing/2016/SVG/main" r:embed="Rb30c96a82a7e43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9875" y="14763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8E73C-C547-4803-82C3-A894427A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B8E6"/>
                </a:solidFill>
              </a:defRPr>
            </a:pPr>
            <a:r>
              <a:rPr sz="1275" b="1">
                <a:solidFill>
                  <a:srgbClr val="16B8E6"/>
                </a:solidFill>
              </a:rPr>
              <a:t>FIRST PRIORITY  •  Strongest sign-in  +  review sessions  +  secure recovery</a:t>
            </a:r>
          </a:p>
        </p:txBody>
      </p:sp>
    </p:spTree>
    <p:extLst>
      <p:ext uri="{BB962C8B-B14F-4D97-AF65-F5344CB8AC3E}">
        <p14:creationId xmlns:p14="http://schemas.microsoft.com/office/powerpoint/2010/main" val="19669352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5A1F7-335F-4493-B12A-919118B3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69B8E-F471-41E1-8548-DC5A4434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B8E6"/>
                </a:solidFill>
              </a:defRPr>
            </a:pPr>
            <a:r>
              <a:rPr sz="1050" b="1">
                <a:solidFill>
                  <a:srgbClr val="16B8E6"/>
                </a:solidFill>
              </a:rPr>
              <a:t>08  •  PLATFORM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93541-6DBE-49EC-B914-20F61F07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Control privacy and digital exposure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381125"/>
          <a:ext xmlns:a="http://schemas.openxmlformats.org/drawingml/2006/main" cx="108204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847850"/>
                <a:gridCol w="1847850"/>
                <a:gridCol w="1847850"/>
                <a:gridCol w="1847850"/>
              </a:tblGrid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91440" marR="91440" marT="45720" marB="45720">
                    <a:solidFill>
                      <a:srgbClr val="0B25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FA4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87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C135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Restrict audience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Status/privacy controls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Post audience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Private account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Protect posts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Unknown contacts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Silence callers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Message controls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Message controls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DM/call controls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Hide IP during calls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Protect IP in Calls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Enhanced Call Privacy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Spam / harmful words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Block unknown messages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Spam filters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Hidden Words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Mute words / filters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Tags and mentions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Group/status controls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Tag Review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Manual approval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Mention controls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Location exposure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Device permission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Location controls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Location controls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Location controls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Phone/email discovery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Privacy controls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Discoverability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Accounts Center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Discoverability</a:t>
                      </a:r>
                    </a:p>
                  </a:txBody>
                  <a:tcPr marL="91440" marR="91440" marT="45720" marB="45720">
                    <a:solidFill>
                      <a:srgbClr val="0A2345"/>
                    </a:solidFill>
                  </a:tcPr>
                </a:tc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 leaving chat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Advanced Chat Privacy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Limited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Limited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C9E8FF"/>
                          </a:solidFill>
                        </a:rPr>
                        <a:t>Limited</a:t>
                      </a:r>
                    </a:p>
                  </a:txBody>
                  <a:tcPr marL="91440" marR="91440" marT="45720" marB="45720">
                    <a:solidFill>
                      <a:srgbClr val="102D52"/>
                    </a:solidFill>
                  </a:tcPr>
                </a:tc>
              </a:tr>
            </a:tbl>
          </a:graphicData>
        </a:graphic>
      </p:graphicFrame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cbc588fc841a2">
            <a:extLst>
              <a:ext uri="{96DAC541-7B7A-43D3-8B79-37D633B846F1}">
                <asvg:svgBlip xmlns:asvg="http://schemas.microsoft.com/office/drawing/2016/SVG/main" r:embed="Rffa543be23d741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86325" y="14763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057ae974b48c3">
            <a:extLst>
              <a:ext uri="{96DAC541-7B7A-43D3-8B79-37D633B846F1}">
                <asvg:svgBlip xmlns:asvg="http://schemas.microsoft.com/office/drawing/2016/SVG/main" r:embed="Rcb118db04fb048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34175" y="14763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920b520b54963">
            <a:extLst>
              <a:ext uri="{96DAC541-7B7A-43D3-8B79-37D633B846F1}">
                <asvg:svgBlip xmlns:asvg="http://schemas.microsoft.com/office/drawing/2016/SVG/main" r:embed="R4916ce82c45947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82025" y="14763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80de1c3554769">
            <a:extLst>
              <a:ext uri="{96DAC541-7B7A-43D3-8B79-37D633B846F1}">
                <asvg:svgBlip xmlns:asvg="http://schemas.microsoft.com/office/drawing/2016/SVG/main" r:embed="R360103cf465940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9875" y="14763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EEFF0-69CA-4C27-9A7A-99E01B72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B8E6"/>
                </a:solidFill>
              </a:defRPr>
            </a:pPr>
            <a:r>
              <a:rPr sz="1275" b="1">
                <a:solidFill>
                  <a:srgbClr val="16B8E6"/>
                </a:solidFill>
              </a:rPr>
              <a:t>SPECIAL CHECK  •  WhatsApp and X can mask your IP during calls</a:t>
            </a:r>
          </a:p>
        </p:txBody>
      </p:sp>
    </p:spTree>
    <p:extLst>
      <p:ext uri="{BB962C8B-B14F-4D97-AF65-F5344CB8AC3E}">
        <p14:creationId xmlns:p14="http://schemas.microsoft.com/office/powerpoint/2010/main" val="7212193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F90B71-681B-45D4-B6F4-87F01317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23B73-77DD-4374-936D-CC92B731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4F91"/>
                </a:solidFill>
              </a:defRPr>
            </a:pPr>
            <a:r>
              <a:rPr sz="1050" b="1">
                <a:solidFill>
                  <a:srgbClr val="0B4F91"/>
                </a:solidFill>
              </a:rPr>
              <a:t>CYBER SMART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4E0A8-F405-4B5A-916A-AAB13A38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B3A"/>
                </a:solidFill>
              </a:defRPr>
            </a:pPr>
            <a:r>
              <a:rPr sz="2550" b="1">
                <a:solidFill>
                  <a:srgbClr val="061B3A"/>
                </a:solidFill>
              </a:rPr>
              <a:t>Secure email first—it resets everything else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4267B-2FAC-4F16-9FFE-CD5457E6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048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4F91"/>
                </a:solidFill>
              </a:defRPr>
            </a:pPr>
            <a:r>
              <a:rPr sz="1200" b="1">
                <a:solidFill>
                  <a:srgbClr val="0B4F91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31E5B-5DE6-46E7-848D-85D602B5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ffb7fe2e1407c"/>
          <a:srcRect xmlns:a="http://schemas.openxmlformats.org/drawingml/2006/main" l="19585" t="0" r="195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66850"/>
            <a:ext cx="4838700" cy="4476750"/>
          </a:xfrm>
          <a:prstGeom xmlns:a="http://schemas.openxmlformats.org/drawingml/2006/main" prst="roundRect">
            <a:avLst>
              <a:gd name="adj" fmla="val 468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2CBE5-8166-4617-A993-9F362C78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4F91"/>
                </a:solidFill>
              </a:defRPr>
            </a:pPr>
            <a:r>
              <a:rPr sz="1350" b="1">
                <a:solidFill>
                  <a:srgbClr val="0B4F91"/>
                </a:solidFill>
              </a:rPr>
              <a:t>PRIMARY EMAIL = MASTER KEY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34F45-260C-47D2-96B9-C7361114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000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83E90-541C-4022-9B6F-5A8E80FF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41FD2-50F6-478B-9AA2-405D34EE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Unique long password or passkey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7F015-D656-40F2-9591-BEB2A69A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03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41B42-10A3-4020-816E-0FC34E2A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4000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3A14A-5BEE-41C2-BAD0-2A406A7A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A668A-7674-443B-BC3B-94807776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Authenticator-based 2FA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8AC29-A012-41D5-9D6F-0BF7CB5A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861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FAA49-2C64-41E6-80F0-5412AC2D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4000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C7B34-5911-4AA6-9178-0DAFAE7C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96DB0-4B8C-40ED-8015-A20E2341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Updated recovery email and phone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8CF5A-0C8D-4746-8065-A129BDF6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719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A0814-02FE-4B8B-BCC9-D514CCDB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000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03FD0-A3EE-4630-92E2-C1DF6870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8C64BB-F783-40F9-88A9-483B210F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Review sessions and app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983F13-D1CE-461A-B068-2C83FA86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BC3AD-189F-4823-A80F-4C14DAB1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4000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BEC44A-6030-4E00-9443-E16A9897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D8D43D-A43B-42C6-88A6-9F40199F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Store recovery codes safely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9903F5-42F6-455E-8DE3-0ADF5A86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435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150359-CD22-4EE3-BBF7-7A741BD8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5334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90B189-5F2E-4C8A-8835-7ED51CE8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673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If you improve one account today, improve this one.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26D114-70FE-4BEA-B672-F7F6C1F0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57C"/>
                </a:solidFill>
              </a:defRPr>
            </a:pPr>
            <a:r>
              <a:rPr sz="975" b="0">
                <a:solidFill>
                  <a:srgbClr val="50657C"/>
                </a:solidFill>
              </a:rPr>
              <a:t>Pause • Verify • Protect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AA76E9-80F1-4EAD-B63D-E18664E6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0657C"/>
                </a:solidFill>
              </a:defRPr>
            </a:pPr>
            <a:r>
              <a:rPr sz="975" b="1">
                <a:solidFill>
                  <a:srgbClr val="50657C"/>
                </a:solidFill>
              </a:rPr>
              <a:t>Najeeb ul Hassan</a:t>
            </a:r>
          </a:p>
        </p:txBody>
      </p:sp>
    </p:spTree>
    <p:extLst>
      <p:ext uri="{BB962C8B-B14F-4D97-AF65-F5344CB8AC3E}">
        <p14:creationId xmlns:p14="http://schemas.microsoft.com/office/powerpoint/2010/main" val="13166233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9f04f6f0b4f1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16736-6269-4514-BAAB-91B20062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042BA-3360-4A5A-A36E-3C271B17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27C0F-E624-471D-B6F1-3872FB20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E6"/>
                </a:solidFill>
              </a:defRPr>
            </a:pPr>
            <a:r>
              <a:rPr sz="1125" b="1">
                <a:solidFill>
                  <a:srgbClr val="16B8E6"/>
                </a:solidFill>
              </a:rPr>
              <a:t>10  •  SYSTEMS &amp; BROWSERS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3E53F-9853-4513-B337-23660A7C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Keep your computer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boring and recoverable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BDFC1-6D67-4EFE-A38B-798AEC19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7F807-A41A-4B1C-8FB3-8343D7DF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541DE-6D99-44CF-B95D-0F74212E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43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5FF"/>
                </a:solidFill>
              </a:defRPr>
            </a:pPr>
            <a:r>
              <a:rPr sz="1200" b="0">
                <a:solidFill>
                  <a:srgbClr val="DDF5FF"/>
                </a:solidFill>
              </a:rPr>
              <a:t>OS • browser • applications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D4485-CDF6-42CC-9C6E-93F44A66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66F56-138F-48F7-B5D9-19DE2824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INSTALL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95BDD-98CF-4218-B168-02171C77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95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5FF"/>
                </a:solidFill>
              </a:defRPr>
            </a:pPr>
            <a:r>
              <a:rPr sz="1200" b="0">
                <a:solidFill>
                  <a:srgbClr val="DDF5FF"/>
                </a:solidFill>
              </a:rPr>
              <a:t>Legitimate software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265E2-9692-4812-8C5E-817774B0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45FC6-396E-48DB-A79D-D9C6C7D5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DEFEND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8E6B9-665D-4712-AE88-7618714C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48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5FF"/>
                </a:solidFill>
              </a:defRPr>
            </a:pPr>
            <a:r>
              <a:rPr sz="1200" b="0">
                <a:solidFill>
                  <a:srgbClr val="DDF5FF"/>
                </a:solidFill>
              </a:rPr>
              <a:t>Firewall + built-in antivirus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0F3BF-564C-47E0-B3AA-5F3586E1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0A5C4-DB44-4E11-AD5E-4CB60DB0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B38EA-4A27-40E4-AC30-27D4B234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00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5FF"/>
                </a:solidFill>
              </a:defRPr>
            </a:pPr>
            <a:r>
              <a:rPr sz="1200" b="0">
                <a:solidFill>
                  <a:srgbClr val="DDF5FF"/>
                </a:solidFill>
              </a:rPr>
              <a:t>Expected sender + expected 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C5ADB-FE1F-460C-A7FE-8FC9F484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CDC3C-46C3-43AF-9F9D-7D5AEE2D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BACK 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E849B-2897-4C9C-A92F-50976972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52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5FF"/>
                </a:solidFill>
              </a:defRPr>
            </a:pPr>
            <a:r>
              <a:rPr sz="1200" b="0">
                <a:solidFill>
                  <a:srgbClr val="DDF5FF"/>
                </a:solidFill>
              </a:rPr>
              <a:t>Important files in two places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F7E2F-0A2C-41D3-8F2A-7FFF4BB2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C0319-3549-47F1-AF94-4DDC723A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A152C-067D-4E2B-BAAE-65815FF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054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5FF"/>
                </a:solidFill>
              </a:defRPr>
            </a:pPr>
            <a:r>
              <a:rPr sz="1200" b="0">
                <a:solidFill>
                  <a:srgbClr val="DDF5FF"/>
                </a:solidFill>
              </a:rPr>
              <a:t>Screen when stepping away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2E23E-E286-4044-988A-7730597E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B8E6"/>
                </a:solidFill>
              </a:defRPr>
            </a:pPr>
            <a:r>
              <a:rPr sz="1350" b="1">
                <a:solidFill>
                  <a:srgbClr val="16B8E6"/>
                </a:solidFill>
              </a:rPr>
              <a:t>Professional-looking files can still deliver malware.</a:t>
            </a:r>
          </a:p>
        </p:txBody>
      </p:sp>
    </p:spTree>
    <p:extLst>
      <p:ext uri="{BB962C8B-B14F-4D97-AF65-F5344CB8AC3E}">
        <p14:creationId xmlns:p14="http://schemas.microsoft.com/office/powerpoint/2010/main" val="19967488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780AA-FA46-42C7-A447-BF074BB5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E3CDC-1947-45A7-86F0-04A48AC0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4F91"/>
                </a:solidFill>
              </a:defRPr>
            </a:pPr>
            <a:r>
              <a:rPr sz="1050" b="1">
                <a:solidFill>
                  <a:srgbClr val="0B4F91"/>
                </a:solidFill>
              </a:rPr>
              <a:t>CYBER SMART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A18B4-30C9-4A11-A33A-E82C0841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B3A"/>
                </a:solidFill>
              </a:defRPr>
            </a:pPr>
            <a:r>
              <a:rPr sz="2550" b="1">
                <a:solidFill>
                  <a:srgbClr val="061B3A"/>
                </a:solidFill>
              </a:rPr>
              <a:t>Your profile can become an attacker’s research 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67E4D-CD84-42FA-BCA4-E4B10201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048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4F91"/>
                </a:solidFill>
              </a:defRPr>
            </a:pPr>
            <a:r>
              <a:rPr sz="1200" b="1">
                <a:solidFill>
                  <a:srgbClr val="0B4F91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B9D1E-4B52-4187-AB0B-081CFCB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4a2508df14345"/>
          <a:srcRect xmlns:a="http://schemas.openxmlformats.org/drawingml/2006/main" l="4976" t="0" r="49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466850"/>
            <a:ext cx="6553200" cy="4095750"/>
          </a:xfrm>
          <a:prstGeom xmlns:a="http://schemas.openxmlformats.org/drawingml/2006/main" prst="roundRect">
            <a:avLst>
              <a:gd name="adj" fmla="val 511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CE308-2932-4073-B630-487F7F3A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F91"/>
                </a:solidFill>
              </a:defRPr>
            </a:pPr>
            <a:r>
              <a:rPr sz="1275" b="1">
                <a:solidFill>
                  <a:srgbClr val="0B4F91"/>
                </a:solidFill>
              </a:rPr>
              <a:t>PUBLIC CLUES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04956-D81A-4745-AD2A-08895433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59AE5-EE49-4BC6-9B11-98CE25EA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36360-8EDD-4977-931B-297651DC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Family and workplace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EFF30-7C78-462F-8CDC-AE9E7D7A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B4956-E993-459F-BAF1-0FA5ABD0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76D8C-8A0F-433D-975F-EA674F3C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Location and routine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00F15-92C7-481E-9918-E3DC4837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A0CCD-7CB0-48F5-B15E-72A99D6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CC9DE-7E4E-4EAC-B3C5-B92BBFE3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Face and voice samples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0A525-F829-40DD-AAD5-0814442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70B28-5116-43E0-8E0F-2D3EB1DD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A3258E-AF43-40B0-8042-AF1AA180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</a:defRPr>
            </a:pPr>
            <a:r>
              <a:rPr sz="1425" b="1">
                <a:solidFill>
                  <a:srgbClr val="10243E"/>
                </a:solidFill>
              </a:rPr>
              <a:t>Interests and recent 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C8AC3-F189-46F9-923B-2531B5FE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7719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96397-7090-46D7-9ACE-973D04F3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339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Familiar is not verified.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Call back on a saved number.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5F9F5-8D7E-48D1-9FF2-9BDCED2E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57C"/>
                </a:solidFill>
              </a:defRPr>
            </a:pPr>
            <a:r>
              <a:rPr sz="975" b="0">
                <a:solidFill>
                  <a:srgbClr val="50657C"/>
                </a:solidFill>
              </a:rPr>
              <a:t>Pause • Verify • Protect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6C1E1A-1BCD-490D-9EFF-4D208B62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0657C"/>
                </a:solidFill>
              </a:defRPr>
            </a:pPr>
            <a:r>
              <a:rPr sz="975" b="1">
                <a:solidFill>
                  <a:srgbClr val="50657C"/>
                </a:solidFill>
              </a:rPr>
              <a:t>Najeeb ul Hassan</a:t>
            </a:r>
          </a:p>
        </p:txBody>
      </p:sp>
    </p:spTree>
    <p:extLst>
      <p:ext uri="{BB962C8B-B14F-4D97-AF65-F5344CB8AC3E}">
        <p14:creationId xmlns:p14="http://schemas.microsoft.com/office/powerpoint/2010/main" val="15253052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AA894D-DD9B-4E9F-954B-08105CF3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E468E-4031-45B3-9AC2-D00EEA5A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4F91"/>
                </a:solidFill>
              </a:defRPr>
            </a:pPr>
            <a:r>
              <a:rPr sz="1050" b="1">
                <a:solidFill>
                  <a:srgbClr val="0B4F91"/>
                </a:solidFill>
              </a:rPr>
              <a:t>CYBER SMART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025EF-0F02-426E-A0F3-1AE3A600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B3A"/>
                </a:solidFill>
              </a:defRPr>
            </a:pPr>
            <a:r>
              <a:rPr sz="2550" b="1">
                <a:solidFill>
                  <a:srgbClr val="061B3A"/>
                </a:solidFill>
              </a:rPr>
              <a:t>Use AI as an assistant—not a confidential vault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E3DA2-9CFE-46BF-899D-94ED7492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048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4F91"/>
                </a:solidFill>
              </a:defRPr>
            </a:pPr>
            <a:r>
              <a:rPr sz="1200" b="1">
                <a:solidFill>
                  <a:srgbClr val="0B4F91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F1EEA-DCC2-4AA5-A451-119C520C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6deeddd9d4b28"/>
          <a:srcRect xmlns:a="http://schemas.openxmlformats.org/drawingml/2006/main" l="8853" t="0" r="88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0" y="1466850"/>
            <a:ext cx="6267450" cy="4286250"/>
          </a:xfrm>
          <a:prstGeom xmlns:a="http://schemas.openxmlformats.org/drawingml/2006/main" prst="roundRect">
            <a:avLst>
              <a:gd name="adj" fmla="val 488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F980C-E857-4DAC-BCFF-0C0A9DBC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3A352-2023-4A9D-8C96-AAAD337E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52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A7AE3-C8B3-4E14-96F6-33AF9936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A878"/>
                </a:solidFill>
              </a:defRPr>
            </a:pPr>
            <a:r>
              <a:rPr sz="1350" b="1">
                <a:solidFill>
                  <a:srgbClr val="12A878"/>
                </a:solidFill>
              </a:rPr>
              <a:t>SAFE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D4624-AFB4-421E-9E2A-F93DBFEF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E"/>
                </a:solidFill>
              </a:defRPr>
            </a:pPr>
            <a:r>
              <a:rPr sz="1275" b="0">
                <a:solidFill>
                  <a:srgbClr val="10243E"/>
                </a:solidFill>
              </a:rPr>
              <a:t>Public information</a:t>
            </a:r>
          </a:p>
          <a:p xmlns:a="http://schemas.openxmlformats.org/drawingml/2006/main">
            <a:pPr algn="l">
              <a:defRPr sz="1275" b="0">
                <a:solidFill>
                  <a:srgbClr val="10243E"/>
                </a:solidFill>
              </a:defRPr>
            </a:pPr>
            <a:r>
              <a:rPr sz="1275" b="0">
                <a:solidFill>
                  <a:srgbClr val="10243E"/>
                </a:solidFill>
              </a:rPr>
              <a:t>General questions</a:t>
            </a:r>
          </a:p>
          <a:p xmlns:a="http://schemas.openxmlformats.org/drawingml/2006/main">
            <a:pPr algn="l">
              <a:defRPr sz="1275" b="0">
                <a:solidFill>
                  <a:srgbClr val="10243E"/>
                </a:solidFill>
              </a:defRPr>
            </a:pPr>
            <a:r>
              <a:rPr sz="1275" b="0">
                <a:solidFill>
                  <a:srgbClr val="10243E"/>
                </a:solidFill>
              </a:rPr>
              <a:t>Creative ideas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B2395-5450-4986-94B5-9BA7C9DA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095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97BB4-CD44-4683-A2D6-6010C1F8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952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156F0-01EE-4D07-9A19-70928B27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A93B"/>
                </a:solidFill>
              </a:defRPr>
            </a:pPr>
            <a:r>
              <a:rPr sz="1350" b="1">
                <a:solidFill>
                  <a:srgbClr val="F2A93B"/>
                </a:solidFill>
              </a:rPr>
              <a:t>ANONYMIZE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E441B-770B-44D7-851C-C3E25616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E"/>
                </a:solidFill>
              </a:defRPr>
            </a:pPr>
            <a:r>
              <a:rPr sz="1275" b="0">
                <a:solidFill>
                  <a:srgbClr val="10243E"/>
                </a:solidFill>
              </a:rPr>
              <a:t>Remove names</a:t>
            </a:r>
          </a:p>
          <a:p xmlns:a="http://schemas.openxmlformats.org/drawingml/2006/main">
            <a:pPr algn="l">
              <a:defRPr sz="1275" b="0">
                <a:solidFill>
                  <a:srgbClr val="10243E"/>
                </a:solidFill>
              </a:defRPr>
            </a:pPr>
            <a:r>
              <a:rPr sz="1275" b="0">
                <a:solidFill>
                  <a:srgbClr val="10243E"/>
                </a:solidFill>
              </a:rPr>
              <a:t>Remove identifiers</a:t>
            </a:r>
          </a:p>
          <a:p xmlns:a="http://schemas.openxmlformats.org/drawingml/2006/main">
            <a:pPr algn="l">
              <a:defRPr sz="1275" b="0">
                <a:solidFill>
                  <a:srgbClr val="10243E"/>
                </a:solidFill>
              </a:defRPr>
            </a:pPr>
            <a:r>
              <a:rPr sz="1275" b="0">
                <a:solidFill>
                  <a:srgbClr val="10243E"/>
                </a:solidFill>
              </a:rPr>
              <a:t>Confirm approval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CFBEA-6773-4353-8622-C2D4E5DB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095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2490C-1031-4C6B-8AF8-D654C45B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952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4218B-18CF-4F59-8B84-029E62BF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454"/>
                </a:solidFill>
              </a:defRPr>
            </a:pPr>
            <a:r>
              <a:rPr sz="1350" b="1">
                <a:solidFill>
                  <a:srgbClr val="E45454"/>
                </a:solidFill>
              </a:rPr>
              <a:t>NEVER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192DF-DA13-4B35-A7AC-9D0A3A8E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E"/>
                </a:solidFill>
              </a:defRPr>
            </a:pPr>
            <a:r>
              <a:rPr sz="1275" b="0">
                <a:solidFill>
                  <a:srgbClr val="10243E"/>
                </a:solidFill>
              </a:rPr>
              <a:t>Passwords or codes</a:t>
            </a:r>
          </a:p>
          <a:p xmlns:a="http://schemas.openxmlformats.org/drawingml/2006/main">
            <a:pPr algn="l">
              <a:defRPr sz="1275" b="0">
                <a:solidFill>
                  <a:srgbClr val="10243E"/>
                </a:solidFill>
              </a:defRPr>
            </a:pPr>
            <a:r>
              <a:rPr sz="1275" b="0">
                <a:solidFill>
                  <a:srgbClr val="10243E"/>
                </a:solidFill>
              </a:rPr>
              <a:t>Identity documents</a:t>
            </a:r>
          </a:p>
          <a:p xmlns:a="http://schemas.openxmlformats.org/drawingml/2006/main">
            <a:pPr algn="l">
              <a:defRPr sz="1275" b="0">
                <a:solidFill>
                  <a:srgbClr val="10243E"/>
                </a:solidFill>
              </a:defRPr>
            </a:pPr>
            <a:r>
              <a:rPr sz="1275" b="0">
                <a:solidFill>
                  <a:srgbClr val="10243E"/>
                </a:solidFill>
              </a:rPr>
              <a:t>Case, medical or financial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A99AD-6C1A-467A-AE03-CBF11D79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40957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134EA-6074-4FA8-ABB2-8DC230A5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340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Remove sensitive details before prompting.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CD5429-7FE6-4058-A665-E0E4305C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57C"/>
                </a:solidFill>
              </a:defRPr>
            </a:pPr>
            <a:r>
              <a:rPr sz="975" b="0">
                <a:solidFill>
                  <a:srgbClr val="50657C"/>
                </a:solidFill>
              </a:rPr>
              <a:t>Pause • Verify • Protect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43E0D-A44C-4E63-A1BE-EFC6D0B6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0657C"/>
                </a:solidFill>
              </a:defRPr>
            </a:pPr>
            <a:r>
              <a:rPr sz="975" b="1">
                <a:solidFill>
                  <a:srgbClr val="50657C"/>
                </a:solidFill>
              </a:rPr>
              <a:t>Najeeb ul Hassan</a:t>
            </a:r>
          </a:p>
        </p:txBody>
      </p:sp>
    </p:spTree>
    <p:extLst>
      <p:ext uri="{BB962C8B-B14F-4D97-AF65-F5344CB8AC3E}">
        <p14:creationId xmlns:p14="http://schemas.microsoft.com/office/powerpoint/2010/main" val="21007584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1d79e248043a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6974E-189A-42E4-8BC1-EED83236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51779-E453-4326-8E1A-1778A9A0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35170-C2C2-4CAE-90AC-97399AE9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E6"/>
                </a:solidFill>
              </a:defRPr>
            </a:pPr>
            <a:r>
              <a:rPr sz="1125" b="1">
                <a:solidFill>
                  <a:srgbClr val="16B8E6"/>
                </a:solidFill>
              </a:rPr>
              <a:t>13  •  VERIFY AI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A12E1-5178-47EF-8358-3FA794C6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Confidence is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not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E0E2C-34BE-4BC6-9010-B66E282C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F5FF"/>
                </a:solidFill>
              </a:defRPr>
            </a:pPr>
            <a:r>
              <a:rPr sz="1500" b="0">
                <a:solidFill>
                  <a:srgbClr val="DDF5FF"/>
                </a:solidFill>
              </a:rPr>
              <a:t>AI can be useful, convincing—and wrong.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ED444-FC2C-4833-8D7D-4B27B8ED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3AFF0-9C55-4413-A2AD-285D5753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8750F-4E9C-499E-8AAD-159A23F9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23254-AAA4-49A2-B1FF-E7B2E1C4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F5FF"/>
                </a:solidFill>
              </a:defRPr>
            </a:pPr>
            <a:r>
              <a:rPr sz="1125" b="0">
                <a:solidFill>
                  <a:srgbClr val="DDF5FF"/>
                </a:solidFill>
              </a:rPr>
              <a:t>Where did this claim originate?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21A2D-CAF2-439A-A715-4BCD3E38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0F110-0EF4-4002-AD16-37611C1D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47B84-DBD8-4022-8D55-02BFD199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CONFIRM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62314-B99D-4212-9246-788C7F05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F5FF"/>
                </a:solidFill>
              </a:defRPr>
            </a:pPr>
            <a:r>
              <a:rPr sz="1125" b="0">
                <a:solidFill>
                  <a:srgbClr val="DDF5FF"/>
                </a:solidFill>
              </a:rPr>
              <a:t>Can a credible independent source verify it?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F212B-F626-4AD1-96BB-3E1F39EA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C6597-43B2-43CA-9BEC-53F02506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C209E-24A4-4753-833E-C3E7CC3B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91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51A43-48F6-4836-AA70-4F19F13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F5FF"/>
                </a:solidFill>
              </a:defRPr>
            </a:pPr>
            <a:r>
              <a:rPr sz="1125" b="0">
                <a:solidFill>
                  <a:srgbClr val="DDF5FF"/>
                </a:solidFill>
              </a:rPr>
              <a:t>What happens if this answer is wrong?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77507-768B-4011-B651-ADDC5847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B8E6"/>
                </a:solidFill>
              </a:defRPr>
            </a:pPr>
            <a:r>
              <a:rPr sz="1350" b="1">
                <a:solidFill>
                  <a:srgbClr val="16B8E6"/>
                </a:solidFill>
              </a:rPr>
              <a:t>Verify high-consequence claims before acting.</a:t>
            </a:r>
          </a:p>
        </p:txBody>
      </p:sp>
    </p:spTree>
    <p:extLst>
      <p:ext uri="{BB962C8B-B14F-4D97-AF65-F5344CB8AC3E}">
        <p14:creationId xmlns:p14="http://schemas.microsoft.com/office/powerpoint/2010/main" val="4351937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121185-084F-41B2-9173-7C544722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BBDC4-704E-4254-AA75-30B62B58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4F91"/>
                </a:solidFill>
              </a:defRPr>
            </a:pPr>
            <a:r>
              <a:rPr sz="1050" b="1">
                <a:solidFill>
                  <a:srgbClr val="0B4F91"/>
                </a:solidFill>
              </a:rPr>
              <a:t>CYBER SMART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77221-3182-4A50-8A1C-C8E22B87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B3A"/>
                </a:solidFill>
              </a:defRPr>
            </a:pPr>
            <a:r>
              <a:rPr sz="2550" b="1">
                <a:solidFill>
                  <a:srgbClr val="061B3A"/>
                </a:solidFill>
              </a:rPr>
              <a:t>When something goes wrong, act quickly—not emotionally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9BEBC-4C2D-45BE-A094-F37143FD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048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4F91"/>
                </a:solidFill>
              </a:defRPr>
            </a:pPr>
            <a:r>
              <a:rPr sz="1200" b="1">
                <a:solidFill>
                  <a:srgbClr val="0B4F91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82A84-587E-40E1-92BD-4AC06F1B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17f53938048b3"/>
          <a:srcRect xmlns:a="http://schemas.openxmlformats.org/drawingml/2006/main" l="6852" t="0" r="68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466850"/>
            <a:ext cx="5695950" cy="3714750"/>
          </a:xfrm>
          <a:prstGeom xmlns:a="http://schemas.openxmlformats.org/drawingml/2006/main" prst="roundRect">
            <a:avLst>
              <a:gd name="adj" fmla="val 564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4BE0D-E50F-4CD4-8F8D-3123DE10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000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D14C5-BBC5-4EB3-BE00-80C409FE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28A35-8413-4FE4-9DBC-FF232EDE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62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B3A"/>
                </a:solidFill>
              </a:defRPr>
            </a:pPr>
            <a:r>
              <a:rPr sz="1350" b="1">
                <a:solidFill>
                  <a:srgbClr val="061B3A"/>
                </a:solidFill>
              </a:rPr>
              <a:t>DISCONNECT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0D995-6CFB-48E6-B4AA-EE0BF3EA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621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C"/>
                </a:solidFill>
              </a:defRPr>
            </a:pPr>
            <a:r>
              <a:rPr sz="1275" b="0">
                <a:solidFill>
                  <a:srgbClr val="50657C"/>
                </a:solidFill>
              </a:rPr>
              <a:t>Stop further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CE836-01C5-4857-A3F6-2CBB8893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00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32E28-CCCC-452E-BC9F-D4A2D30D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6E77A-5E1A-45BC-9106-4E8C8D59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86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B3A"/>
                </a:solidFill>
              </a:defRPr>
            </a:pPr>
            <a:r>
              <a:rPr sz="1350" b="1">
                <a:solidFill>
                  <a:srgbClr val="061B3A"/>
                </a:solidFill>
              </a:rPr>
              <a:t>SECURE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B2897-709F-41E2-9769-D4886BD8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C"/>
                </a:solidFill>
              </a:defRPr>
            </a:pPr>
            <a:r>
              <a:rPr sz="1275" b="0">
                <a:solidFill>
                  <a:srgbClr val="50657C"/>
                </a:solidFill>
              </a:rPr>
              <a:t>Change access safely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85DF2-5840-47D9-87B8-4E3D9BC2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000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05C83-06F8-4A58-AFBD-35EDF36F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3A7BC-20D2-4B03-B636-7BFFB2C8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B3A"/>
                </a:solidFill>
              </a:defRPr>
            </a:pPr>
            <a:r>
              <a:rPr sz="1350" b="1">
                <a:solidFill>
                  <a:srgbClr val="061B3A"/>
                </a:solidFill>
              </a:rPr>
              <a:t>PRESERVE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2ED50-E361-43E7-82AB-FF0B270D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C"/>
                </a:solidFill>
              </a:defRPr>
            </a:pPr>
            <a:r>
              <a:rPr sz="1275" b="0">
                <a:solidFill>
                  <a:srgbClr val="50657C"/>
                </a:solidFill>
              </a:rPr>
              <a:t>Keep messages and receipts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FBF0F-4FAB-43D5-BDA8-82357B8E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000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68EE5-6715-46AD-B42D-E67FE7DA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F0ADE-7180-494A-81CA-6CC38E54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454"/>
                </a:solidFill>
              </a:defRPr>
            </a:pPr>
            <a:r>
              <a:rPr sz="1350" b="1">
                <a:solidFill>
                  <a:srgbClr val="E45454"/>
                </a:solidFill>
              </a:rPr>
              <a:t>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0B937-A53B-448B-B44F-4E282AA7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C"/>
                </a:solidFill>
              </a:defRPr>
            </a:pPr>
            <a:r>
              <a:rPr sz="1275" b="0">
                <a:solidFill>
                  <a:srgbClr val="50657C"/>
                </a:solidFill>
              </a:rPr>
              <a:t>Platform • bank • NCCIA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B6F96-A6DA-4528-93FF-D6CF6EC6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000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3D6C6B-A868-4F1A-9572-38A9A018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7321C-FDF4-4C6A-B3E0-8991171F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B3A"/>
                </a:solidFill>
              </a:defRPr>
            </a:pPr>
            <a:r>
              <a:rPr sz="1350" b="1">
                <a:solidFill>
                  <a:srgbClr val="061B3A"/>
                </a:solidFill>
              </a:rPr>
              <a:t>MONITOR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75700F-3433-4735-95C4-7C03E2C4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C"/>
                </a:solidFill>
              </a:defRPr>
            </a:pPr>
            <a:r>
              <a:rPr sz="1275" b="0">
                <a:solidFill>
                  <a:srgbClr val="50657C"/>
                </a:solidFill>
              </a:rPr>
              <a:t>Watch accounts and credit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4F48F7-83E1-471C-B451-30175DEF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C1250C-340A-428C-BF07-81A6C10A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530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REPORT: complaint.nccia.gov.pk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F1FD2E-748D-4F23-A318-1FF0C8FF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530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6B8E6"/>
                </a:solidFill>
              </a:defRPr>
            </a:pPr>
            <a:r>
              <a:rPr sz="1650" b="1">
                <a:solidFill>
                  <a:srgbClr val="16B8E6"/>
                </a:solidFill>
              </a:rPr>
              <a:t>24/7 Helpline 1799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CF5473-C6FD-4A42-8398-89F7D433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57C"/>
                </a:solidFill>
              </a:defRPr>
            </a:pPr>
            <a:r>
              <a:rPr sz="975" b="0">
                <a:solidFill>
                  <a:srgbClr val="50657C"/>
                </a:solidFill>
              </a:rPr>
              <a:t>Pause • Verify • Protect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BB64D7-9083-4FCB-B017-81AEAEBB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0657C"/>
                </a:solidFill>
              </a:defRPr>
            </a:pPr>
            <a:r>
              <a:rPr sz="975" b="1">
                <a:solidFill>
                  <a:srgbClr val="50657C"/>
                </a:solidFill>
              </a:rPr>
              <a:t>Najeeb ul Hassan</a:t>
            </a:r>
          </a:p>
        </p:txBody>
      </p:sp>
    </p:spTree>
    <p:extLst>
      <p:ext uri="{BB962C8B-B14F-4D97-AF65-F5344CB8AC3E}">
        <p14:creationId xmlns:p14="http://schemas.microsoft.com/office/powerpoint/2010/main" val="16650787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F93E78-CD9D-499B-8618-8CA1D99E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E94D9-5A85-4025-A8F5-C86547A5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E6"/>
                </a:solidFill>
              </a:defRPr>
            </a:pPr>
            <a:r>
              <a:rPr sz="1125" b="1">
                <a:solidFill>
                  <a:srgbClr val="16B8E6"/>
                </a:solidFill>
              </a:rPr>
              <a:t>15  •  TAKE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23B45-1BB6-499A-A4CD-3867A9F0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247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123C68"/>
                </a:solidFill>
              </a:defRPr>
            </a:pPr>
            <a:r>
              <a:rPr sz="8400" b="1">
                <a:solidFill>
                  <a:srgbClr val="123C6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1D2E3-69B7-4E79-A4AE-9709470A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430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MINUTE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CYBER-SMART RESET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2F0A5-2592-4B56-BDA5-49A73C9E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B8E6"/>
                </a:solidFill>
              </a:defRPr>
            </a:pPr>
            <a:r>
              <a:rPr sz="1500" b="1">
                <a:solidFill>
                  <a:srgbClr val="16B8E6"/>
                </a:solidFill>
              </a:rPr>
              <a:t>Change one setting before you leave.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E0D29-C00B-4195-A09B-17EE54EA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A878"/>
                </a:solidFill>
              </a:defRPr>
            </a:pPr>
            <a:r>
              <a:rPr sz="1125" b="1">
                <a:solidFill>
                  <a:srgbClr val="12A87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A535C-D046-4EDF-B861-082AE30D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Secure primary email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A7340-B1EA-438D-9BE4-92C58752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A878"/>
                </a:solidFill>
              </a:defRPr>
            </a:pPr>
            <a:r>
              <a:rPr sz="1125" b="1">
                <a:solidFill>
                  <a:srgbClr val="12A87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DC08E-8879-4F44-8E3D-6A318C33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Enable passkey / 2FA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50417-2441-4BE7-A8B7-EAA5B413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A878"/>
                </a:solidFill>
              </a:defRPr>
            </a:pPr>
            <a:r>
              <a:rPr sz="1125" b="1">
                <a:solidFill>
                  <a:srgbClr val="12A87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E6C0A-3B9F-4206-94E4-0BBC522A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Review active sessions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5507C-847F-4DFA-8333-9B47E5E6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528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E6"/>
                </a:solidFill>
              </a:defRPr>
            </a:pPr>
            <a:r>
              <a:rPr sz="1125" b="1">
                <a:solidFill>
                  <a:srgbClr val="16B8E6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7F78A-902E-46A1-8CBC-7B1AF9E4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Hide lock-screen previews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6EE70-9120-4DA2-9BD6-C88C3DE9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E6"/>
                </a:solidFill>
              </a:defRPr>
            </a:pPr>
            <a:r>
              <a:rPr sz="1125" b="1">
                <a:solidFill>
                  <a:srgbClr val="16B8E6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55F30-7F4E-41EA-96B2-D1142CE1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Review app permissions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2A2C9-9C78-48CB-BC04-7AC762A2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67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E6"/>
                </a:solidFill>
              </a:defRPr>
            </a:pPr>
            <a:r>
              <a:rPr sz="1125" b="1">
                <a:solidFill>
                  <a:srgbClr val="16B8E6"/>
                </a:solidFill>
              </a:rPr>
              <a:t>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57440-6E2D-43E9-857A-AC831BA4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Limit profile information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A98FD-96ED-4148-83A9-1F2F3D3A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E6"/>
                </a:solidFill>
              </a:defRPr>
            </a:pPr>
            <a:r>
              <a:rPr sz="1125" b="1">
                <a:solidFill>
                  <a:srgbClr val="16B8E6"/>
                </a:solidFill>
              </a:rPr>
              <a:t>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9D91B-8F15-426B-B271-AC6BC63F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Enable call IP protection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58D35-40F0-4FE8-B398-F61AEAEE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81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E6"/>
                </a:solidFill>
              </a:defRPr>
            </a:pPr>
            <a:r>
              <a:rPr sz="1125" b="1">
                <a:solidFill>
                  <a:srgbClr val="16B8E6"/>
                </a:solidFill>
              </a:rPr>
              <a:t>08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320696-B41C-4D3E-9749-2470FECD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Create a family safe word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5916C-DE36-4A84-9782-DCA64ED3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E6"/>
                </a:solidFill>
              </a:defRPr>
            </a:pPr>
            <a:r>
              <a:rPr sz="1125" b="1">
                <a:solidFill>
                  <a:srgbClr val="16B8E6"/>
                </a:solidFill>
              </a:rPr>
              <a:t>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1D3A2-3FC3-486A-BE42-559D3253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Encrypt important backups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CBDBF-05B3-4CF2-AE7A-28E4987A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959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E6"/>
                </a:solidFill>
              </a:defRPr>
            </a:pPr>
            <a:r>
              <a:rPr sz="1125" b="1">
                <a:solidFill>
                  <a:srgbClr val="16B8E6"/>
                </a:solidFill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B122C9-E3D6-47C2-8912-61E3F0F0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76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Save the NCCIA reporting link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AB8E1A-5D07-4120-AA24-49623597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04AD0-707B-49DA-9A0C-8497B2E5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8E6"/>
                </a:solidFill>
              </a:defRPr>
            </a:pPr>
            <a:r>
              <a:rPr sz="1125" b="1">
                <a:solidFill>
                  <a:srgbClr val="16B8E6"/>
                </a:solidFill>
              </a:rPr>
              <a:t>PAUSE  •  VERIFY  •  PROTECT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1BEB57-B954-47F8-9548-63C6FE3F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1531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DF5FF"/>
                </a:solidFill>
              </a:defRPr>
            </a:pPr>
            <a:r>
              <a:rPr sz="1350" b="1">
                <a:solidFill>
                  <a:srgbClr val="DDF5FF"/>
                </a:solidFill>
              </a:rPr>
              <a:t>Cyber smart is a habit—not an app.</a:t>
            </a:r>
          </a:p>
        </p:txBody>
      </p:sp>
    </p:spTree>
    <p:extLst>
      <p:ext uri="{BB962C8B-B14F-4D97-AF65-F5344CB8AC3E}">
        <p14:creationId xmlns:p14="http://schemas.microsoft.com/office/powerpoint/2010/main" val="608630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2026-08-24T03:03:15.7860000Z</dcterms:created>
  <dcterms:modified xsi:type="dcterms:W3CDTF">2026-08-24T03:03:15.7860000Z</dcterms:modified>
</coreProperties>
</file>